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400" b="1">
                <a:latin typeface="Malgun Gothic"/>
              </a:rPr>
              <a:t>배터리 품질 분석 보고서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입력 파일: battery_quality_raw_synthetic data.xlsx</a:t>
            </a:r>
          </a:p>
          <a:p>
            <a:r>
              <a:t>생성 시간: 2026-10-28 23:24</a:t>
            </a:r>
          </a:p>
          <a:p>
            <a:r>
              <a:t>통계 및 규격 분석 결과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Malgun Gothic"/>
              </a:rPr>
              <a:t>1. 분석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latin typeface="Malgun Gothic"/>
              </a:rPr>
              <a:t>입력 파일: battery_quality_raw_synthetic data.xlsx</a:t>
            </a:r>
          </a:p>
          <a:p>
            <a:r>
              <a:rPr sz="1900">
                <a:latin typeface="Malgun Gothic"/>
              </a:rPr>
              <a:t>전체 데이터 수: 400</a:t>
            </a:r>
          </a:p>
          <a:p>
            <a:r>
              <a:rPr sz="1900">
                <a:latin typeface="Malgun Gothic"/>
              </a:rPr>
              <a:t>전체 OK: 390</a:t>
            </a:r>
          </a:p>
          <a:p>
            <a:r>
              <a:rPr sz="1900">
                <a:latin typeface="Malgun Gothic"/>
              </a:rPr>
              <a:t>전체 NG: 4</a:t>
            </a:r>
          </a:p>
          <a:p>
            <a:r>
              <a:rPr sz="1900">
                <a:latin typeface="Malgun Gothic"/>
              </a:rPr>
              <a:t>미판정/미측정: 6</a:t>
            </a:r>
          </a:p>
          <a:p>
            <a:r>
              <a:rPr sz="1900">
                <a:latin typeface="Malgun Gothic"/>
              </a:rPr>
              <a:t>합격률(OK/(OK+NG)): 98.98%</a:t>
            </a:r>
          </a:p>
          <a:p>
            <a:r>
              <a:rPr sz="1900">
                <a:latin typeface="Malgun Gothic"/>
              </a:rPr>
              <a:t>규격 파일: Raw_Data/specifications.xlsx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Malgun Gothic"/>
              </a:rPr>
              <a:t>2. 기술통계 요약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371600"/>
          <a:ext cx="115214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  <a:gridCol w="1280160"/>
                <a:gridCol w="1280160"/>
                <a:gridCol w="1280160"/>
                <a:gridCol w="1280160"/>
                <a:gridCol w="1280160"/>
              </a:tblGrid>
              <a:tr h="4114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품질 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데이터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평균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표준편차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최솟값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1사분위수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중앙값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3사분위수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최댓값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용량 (Ah)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399.0000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4.8479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0.0476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4.0000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4.8426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4.8505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4.8590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4.8918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전압 (V)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399.0000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3.5961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0.0347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3.0000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3.5859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3.5980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3.6099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3.6561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내부저항 (mΩ)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398.0000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18.5985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0.1131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18.1124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18.5249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18.5977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18.6713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18.9858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두께 (mm)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400.0000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7.5000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0.0567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6.8000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7.4722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7.4997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7.5303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7.6120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중량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398.0000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68.6103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0.1822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68.0005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68.4840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68.6224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68.7274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Malgun Gothic"/>
                        </a:rPr>
                        <a:t>69.0633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Malgun Gothic"/>
              </a:rPr>
              <a:t>3. 항목별 OK/NG 요약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371600"/>
          <a:ext cx="115214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80"/>
                <a:gridCol w="1440180"/>
                <a:gridCol w="1440180"/>
                <a:gridCol w="1440180"/>
                <a:gridCol w="1440180"/>
                <a:gridCol w="1440180"/>
                <a:gridCol w="1440180"/>
                <a:gridCol w="1440180"/>
              </a:tblGrid>
              <a:tr h="502920"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품질 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OK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NG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미측정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미판정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판정 가능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합격률(OK/(OK+NG))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불량률(NG/(OK+NG))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용량 (Ah)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397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399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99.50%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0.50%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전압 (V)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398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399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99.75%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0.25%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내부저항 (mΩ)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398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398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100.00%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0.00%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두께 (mm)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399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99.75%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0.25%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중량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398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398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100.00%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0.00%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Malgun Gothic"/>
              </a:rPr>
              <a:t>4. 규격 및 공정능력 분석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8600" y="1417320"/>
          <a:ext cx="117500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170"/>
                <a:gridCol w="979170"/>
                <a:gridCol w="979170"/>
                <a:gridCol w="979170"/>
                <a:gridCol w="979170"/>
                <a:gridCol w="979170"/>
                <a:gridCol w="979170"/>
                <a:gridCol w="979170"/>
                <a:gridCol w="979170"/>
                <a:gridCol w="979170"/>
                <a:gridCol w="979170"/>
                <a:gridCol w="979170"/>
              </a:tblGrid>
              <a:tr h="457200"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품질 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데이터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LSL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USL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평균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표준편차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평균-Target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Cpl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Cpk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용량 (Ah)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399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4.850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4.800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4.848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0.048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-0.002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0.335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—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전압 (V)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399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3.600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3.500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3.700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3.596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0.035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-0.004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0.960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0.998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0.922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0.922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내부저항 (mΩ)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398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18.600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18.000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19.200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18.598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0.113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-0.002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1.768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1.773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1.764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1.764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두께 (mm)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7.500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7.200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7.800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7.500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0.057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1.764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1.764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1.764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1.764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중량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398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68.600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68.000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69.600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68.610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0.182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0.010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1.463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1.810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1.116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1.116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Malgun Gothic"/>
              </a:rPr>
              <a:t>용량 (Ah) 분포</a:t>
            </a:r>
          </a:p>
        </p:txBody>
      </p:sp>
      <p:pic>
        <p:nvPicPr>
          <p:cNvPr id="3" name="Picture 2" descr="capacity_ah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32720" cy="58121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Malgun Gothic"/>
              </a:rPr>
              <a:t>용량 (Ah) 자체 OK/NG 비교</a:t>
            </a:r>
          </a:p>
        </p:txBody>
      </p:sp>
      <p:pic>
        <p:nvPicPr>
          <p:cNvPr id="3" name="Picture 2" descr="capacity_ah_item_ok_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32720" cy="58121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Malgun Gothic"/>
              </a:rPr>
              <a:t>전압 (V) 분포</a:t>
            </a:r>
          </a:p>
        </p:txBody>
      </p:sp>
      <p:pic>
        <p:nvPicPr>
          <p:cNvPr id="3" name="Picture 2" descr="voltage_v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32720" cy="58121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Malgun Gothic"/>
              </a:rPr>
              <a:t>전압 (V) 자체 OK/NG 비교</a:t>
            </a:r>
          </a:p>
        </p:txBody>
      </p:sp>
      <p:pic>
        <p:nvPicPr>
          <p:cNvPr id="3" name="Picture 2" descr="voltage_v_item_ok_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32720" cy="58121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Malgun Gothic"/>
              </a:rPr>
              <a:t>내부저항 (mΩ) 분포</a:t>
            </a:r>
          </a:p>
        </p:txBody>
      </p:sp>
      <p:pic>
        <p:nvPicPr>
          <p:cNvPr id="3" name="Picture 2" descr="ir_mohm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32720" cy="58121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Malgun Gothic"/>
              </a:rPr>
              <a:t>내부저항 (mΩ) 자체 OK/NG 비교</a:t>
            </a:r>
          </a:p>
        </p:txBody>
      </p:sp>
      <p:pic>
        <p:nvPicPr>
          <p:cNvPr id="3" name="Picture 2" descr="ir_mohm_item_ok_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32720" cy="58121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Malgun Gothic"/>
              </a:rPr>
              <a:t>두께 (mm) 분포</a:t>
            </a:r>
          </a:p>
        </p:txBody>
      </p:sp>
      <p:pic>
        <p:nvPicPr>
          <p:cNvPr id="3" name="Picture 2" descr="thickness_mm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32720" cy="58121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Malgun Gothic"/>
              </a:rPr>
              <a:t>두께 (mm) 자체 OK/NG 비교</a:t>
            </a:r>
          </a:p>
        </p:txBody>
      </p:sp>
      <p:pic>
        <p:nvPicPr>
          <p:cNvPr id="3" name="Picture 2" descr="thickness_mm_item_ok_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32720" cy="58121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Malgun Gothic"/>
              </a:rPr>
              <a:t>중량 (g) 분포</a:t>
            </a:r>
          </a:p>
        </p:txBody>
      </p:sp>
      <p:pic>
        <p:nvPicPr>
          <p:cNvPr id="3" name="Picture 2" descr="weight_g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32720" cy="58121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Malgun Gothic"/>
              </a:rPr>
              <a:t>중량 (g) 자체 OK/NG 비교</a:t>
            </a:r>
          </a:p>
        </p:txBody>
      </p:sp>
      <p:pic>
        <p:nvPicPr>
          <p:cNvPr id="3" name="Picture 2" descr="weight_g_item_ok_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32720" cy="58121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Malgun Gothic"/>
              </a:rPr>
              <a:t>품질 항목 간 상관관계</a:t>
            </a:r>
          </a:p>
        </p:txBody>
      </p:sp>
      <p:pic>
        <p:nvPicPr>
          <p:cNvPr id="3" name="Picture 2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32720" cy="64579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Malgun Gothic"/>
              </a:rPr>
              <a:t>분석 결과 해석 시 유의사항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latin typeface="Malgun Gothic"/>
              </a:rPr>
              <a:t>• 상관관계는 인과관계를 의미하지 않습니다.</a:t>
            </a:r>
          </a:p>
          <a:p/>
          <a:p>
            <a:r>
              <a:rPr sz="1500">
                <a:latin typeface="Malgun Gothic"/>
              </a:rPr>
              <a:t>• 관리한계는 통계적 관리 기준이며 제품 규격과 다릅니다.</a:t>
            </a:r>
          </a:p>
          <a:p/>
          <a:p>
            <a:r>
              <a:rPr sz="1500">
                <a:latin typeface="Malgun Gothic"/>
              </a:rPr>
              <a:t>• Cp/Cpk는 공정 안정성, 측정 시스템, 표본 대표성을 확인한 뒤 해석해야 합니다.</a:t>
            </a:r>
          </a:p>
          <a:p/>
          <a:p>
            <a:r>
              <a:rPr sz="1500">
                <a:latin typeface="Malgun Gothic"/>
              </a:rPr>
              <a:t>• 결측값은 미측정으로 표시하며 항목별 합격률 분모에서 제외합니다.</a:t>
            </a:r>
          </a:p>
          <a:p/>
          <a:p>
            <a:r>
              <a:rPr sz="1500">
                <a:latin typeface="Malgun Gothic"/>
              </a:rPr>
              <a:t>• 공정 비교를 하려면 입력 데이터에 공정명/공정 컬럼이 필요합니다.</a:t>
            </a:r>
          </a:p>
          <a:p/>
          <a:p>
            <a:r>
              <a:rPr sz="1500">
                <a:latin typeface="Malgun Gothic"/>
              </a:rPr>
              <a:t>• 가상 데이터 및 연습용 규격은 실제 제품의 출하 판정 기준이 아닙니다.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